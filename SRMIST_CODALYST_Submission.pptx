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1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CE9A8C-3F50-49F8-A835-316C22A1110D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3F9-2D09-4642-A3BD-5BF627A06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163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Team CODALYST from SRMIST, Theme 05: Interruptible Real-Time Agents. Our project, prism-agent, is a voice-native assistant that starts working while you are still talking and cancels the moment you change your mind. Members: Arman Panigrahi, Vanshika Singh, Kushagra Srivastava.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Thank you. The code, README and this deck are on GitHub. Happy to run the live barge-in demo or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Theme 05 asks for assistants that keep working when the user interrupts. Standard assistants are half-duplex: they finish a stale search and answer the wrong question. Scoring is 40% task completion, 35% interruption recovery, 15% latency and 10% safety. Our design targets each one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Existing assistants handle barge-in by stopping speech, but the tool calls already running keep going or the whole run is aborted. Nobody reuses the work that a correction did not invalidate, and duplicate bookings on retries are left to the developer. This matrix shows typical out-of-the-box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hangs off SlotState and its generation counter. Every tool call carries the generation it started in; an interruption bumps the generation and every older call is cancelled through its own trio CancelScope. The fast path acknowledges within milliseconds while the slow path runs tools. Layers 1 to 4 add speculation, the salvage cache, multimodal belief fusion and schema-driven tools. Outputs are the five protocol actions, each JSON-validated.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run python server/app.py and open the Flights page. Type a request; a speculative search starts before Enter. Click Interrupt or say 'actually Tokyo': the stale call is struck through in the timeline in about 2 ms and a filler acknowledges. The corrected search returns a modeled schedule; pick outbound and return, enter names and book. Then show the Airports explorer.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is Python on trio, because structured concurrency gives every tool call its own cancel scope. NLU falls back from Groq to a local Ollama model to a deterministic regex parser, so the agent works offline. The web app is Quart-Trio with WebSockets and plain JavaScript. The flight model is built from public datasets. Quality is backed by 159 tests and 97 browser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theme lists four use cases and the same mechanism serves all of them: in-car destination changes, support bots changing a booking mid-flow without double-booking, troubleshooting grounded in manuals and camera frames with clarifying questions, and accessibility where self-repairs are normal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innovations: the interrupt-first spine, speculative dispatch, the salvage cache, belief fusion and schema-driven tools. Measured over 25 replayed barge-in runs: 1.9 ms median from interruption to cancellation, 3.1 ms to a spoken acknowledgment, all 159 tests and 97 browser checks passing, zero duplicate state-changing calls. We are open about limitations: vision is pre-grounded, the confidence heuristic is simple, and flight data is modeled, not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two weeks: run the official evaluation kit and tune speculation thresholds. In one to two months: real streaming speech and a vision model feeding belief fusion, with spoken replies that stop instantly on barge-in. In three to six months: on-device NLU, a calibrated confidence model and new domains added purely through tool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sets us apart: the design is interrupt-first rather than interrupt-tolerant, it never throws away work a correction did not invalidate, it handles new tools with zero code, and it ships a real product on top: a world flight model we built from public data, a booking flow and an airport explorer, backed by 159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 and README are public on GitHub with reproducible setup; the test suite runs with one command. Add the demo video link on this slide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CFE64-7CE6-4299-B8FE-939866A3E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E4360C-492F-4E2E-B967-599B2BD31D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70CDB-78C3-4602-B35C-A826CBF20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5EF81-E96A-4C8D-A4F0-A9DF05C49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2448-68BE-42AE-8001-48ECE62DC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20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C5E08-CE8A-45BE-8C3E-C04A49CC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CB0C-95AB-4F7A-955D-2DC18750B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6DA85-2FDE-4136-B9F6-AF096547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B0367-ACE7-48B9-82C8-A7BFD1F98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A210-6017-4F71-9E78-B2C329B4A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812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AE6C5-6752-4963-B842-280808B20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A6DFC-697D-4605-86C0-8572E022B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41469-A18C-498E-BACC-28BCBFE90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5D3B-1983-426F-A1AE-7470C43B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ABB1-45F2-4FEA-BB5A-3B053892D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53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F4AE-F142-401B-A5D1-4A52FF92C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9BD1-2876-4C52-83CF-1CBA9D931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E624D8-76A7-478F-ACA3-5749DEFD0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29A939-0957-4E96-B38D-0B2E39D41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D44E1-B8BA-490F-B30A-538CC4D48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BB79-7CA5-414E-B5B6-6A8E9AEE4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54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6CE8-8BA4-4FB1-ACAA-E38F8ED7F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70902-F321-482A-924A-FF9A87CA5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5B6F67-E437-4FE8-851B-B016F33CFE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CE7897-2D17-49F8-8762-68F8D5794F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AE8E8-43BB-400D-8934-6D6B21D3A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B6608-03F3-45EF-80BD-C6E305C0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65D75D-3AD4-4D0E-A5BC-9000973F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06A546-DC61-467F-A112-3AC0277BB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66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C8549-E392-4F05-B762-B5370E51C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059880-A67D-4A24-9138-E937AE750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BF6EC7-BFAB-4137-9343-C66B7829A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6B929-B579-4261-8171-35357AE9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29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AFEDF-BA35-4A7C-9388-604C048D5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C80271-5700-43CC-A9BA-B2AAB47B2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712EA-BE6D-4AE5-B09E-215DE5B0E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9072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A6235-A416-4C23-BE8E-8FC1CF0E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2C36B-7DDF-4371-9F0A-6E5B64554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FA19A-E15E-47EA-B9B9-5F7FD0AA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84724-CA93-4332-A03F-0909AC52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03302F-D853-499A-BB91-3BD5366E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4AD427-BF9D-4A47-AF08-E4983B90C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8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1B540-7747-44F5-A3A4-69F051F3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392B5-0943-4B18-9708-C9FA86F835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7DFA04-BB4C-4DC0-9831-EB32549F5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1BDBD-01E1-44D7-AB93-513FF196A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7D7BDB-9CCD-44F3-A4FB-D4BAE589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BC8D8A-A70C-4D57-8271-DCF5EEFC3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36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A63EB-C66D-4D2D-9928-25D57CFDC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91A17B-5319-4265-82A2-5D286CFAF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72F85-7902-4426-947E-3509F7A06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658F-7DA3-40F3-B6FA-CF740F85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B0DE9-130B-4DA8-9A0C-06A295C9D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950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594E2-CBC8-4A0C-A110-E3B5A301CF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BD2EA-CB7C-4CAB-855D-57F791910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348B0-3CBB-41FA-A8EC-5DFC833D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E08DA-D399-4DC8-89B1-C4EBC64DC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A6177-D647-4C5F-BA43-C02A1390F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687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45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E67A62-7E64-4BE9-8EDF-4904E871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A73B9-1A82-4479-978C-9C873CC67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77FC6-3D78-48A7-A3DB-BFC7C0EA3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27EEE-1B67-445E-AA5D-351EC91D1DE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DC877-1137-446E-919A-C66E31331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58D39-C9B6-4DA9-9C05-38A0ECD4CE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B04A4-2082-4D7E-8466-9BA22C990A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178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github.com/armanpanigrahi59/SamsungPrism_GenAI_Hackath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3" Type="http://schemas.openxmlformats.org/officeDocument/2006/relationships/image" Target="../media/image19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26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hyperlink" Target="https://github.com/armanpanigrahi59/SamsungPrism_GenAI_Hackathon" TargetMode="External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notesSlide" Target="../notesSlides/notesSlide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hyperlink" Target="https://github.com/armanpanigrahi59/SamsungPrism_GenAI_Hackath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D3F0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10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 PRISM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3rd Edition</a:t>
            </a:r>
            <a:r>
              <a:rPr lang="en-US" sz="20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2026 – 27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310128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ID – </a:t>
            </a:r>
            <a:r>
              <a:rPr lang="en-US" sz="1450" dirty="0" b="1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Interruptible Real-Time Agents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– </a:t>
            </a:r>
            <a:r>
              <a:rPr lang="en-US" sz="1450" dirty="0" b="1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CODALYST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Name – </a:t>
            </a:r>
            <a:r>
              <a:rPr lang="en-US" sz="1450" dirty="0" b="1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 (SRMIST)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1 – </a:t>
            </a:r>
            <a:r>
              <a:rPr lang="en-US" sz="1450" dirty="0" b="1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Arman Panigrahi · ap4064@srmist.edu.in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2 – </a:t>
            </a:r>
            <a:r>
              <a:rPr lang="en-US" sz="1450" dirty="0" b="1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Vanshika Singh · vs6813@srmist.edu.in</a:t>
            </a:r>
          </a:p>
          <a:p>
            <a:pPr marL="177800" indent="-177800">
              <a:spcAft>
                <a:spcPts val="500"/>
              </a:spcAft>
              <a:buSzPct val="100000"/>
              <a:buFontTx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 &amp; Email 3 – </a:t>
            </a:r>
            <a:r>
              <a:rPr lang="en-US" sz="1450" dirty="0" b="1">
                <a:solidFill>
                  <a:srgbClr val="141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Kushagra Srivastava · ks8869@srmist.edu.in</a:t>
            </a:r>
          </a:p>
          <a:p>
            <a:pPr marL="177800" indent="-177800">
              <a:spcAft>
                <a:spcPts val="500"/>
              </a:spcAft>
              <a:buSzPct val="100000"/>
              <a:buFontTx/>
              <a:buChar char="•"/>
            </a:pPr>
            <a:r>
              <a:rPr lang="en-US" sz="145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GitHub link – </a:t>
            </a:r>
            <a:r>
              <a:rPr lang="en-US" sz="1450" dirty="0" b="1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github.com/armanpanigrahi59/SamsungPrism_GenAI_Hackathon</a:t>
            </a: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endParaRPr lang="en-US" sz="1600" dirty="0">
              <a:solidFill>
                <a:srgbClr val="63637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4" name="Image 0" descr="hero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1051560"/>
            <a:ext cx="4572000" cy="4572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" y="5852160"/>
            <a:ext cx="5486400" cy="530352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prism-agent 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Speculate first. Cancel if wrong. Never freeze.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>
            <a:normAutofit/>
          </a:bodyPr>
          <a:lstStyle/>
          <a:p>
            <a:r>
              <a:rPr lang="en-IN" b="1" dirty="0" sz="3200">
                <a:solidFill>
                  <a:srgbClr val="704EA6"/>
                </a:solidFill>
                <a:latin typeface="+mn-lt"/>
                <a:cs typeface="Arial" pitchFamily="34" charset="-120"/>
              </a:rPr>
              <a:t>Theme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6D28D9"/>
                </a:solidFill>
                <a:latin typeface="Calibri"/>
              </a:rPr>
              <a:t>Theme 05 · </a:t>
            </a:r>
            <a:r>
              <a:rPr sz="2000" b="1" i="0">
                <a:solidFill>
                  <a:srgbClr val="14142B"/>
                </a:solidFill>
                <a:latin typeface="Calibri"/>
              </a:rPr>
              <a:t>Interruptible Real-Time Agents</a:t>
            </a:r>
            <a:r>
              <a:rPr sz="1600" b="0" i="0">
                <a:solidFill>
                  <a:srgbClr val="63637E"/>
                </a:solidFill>
                <a:latin typeface="Calibri"/>
              </a:rPr>
              <a:t>  —  fast-and-slow execution with robust interruption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6035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4142B"/>
                </a:solidFill>
                <a:latin typeface="Calibr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60350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63637E"/>
                </a:solidFill>
                <a:latin typeface="Calibri"/>
              </a:rPr>
              <a:t>Assistants today are half-duplex: listen, think, then speak. People don't talk that way. They interrupt, re-plan and correct themselves mid-sentence, while a tool call is already running.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17520"/>
            <a:ext cx="6035040" cy="457200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>
              <a:spcAft>
                <a:spcPts val="0"/>
              </a:spcAft>
            </a:pPr>
            <a:r>
              <a:rPr sz="1400" b="0" i="1">
                <a:solidFill>
                  <a:srgbClr val="14142B"/>
                </a:solidFill>
                <a:latin typeface="Calibri"/>
              </a:rPr>
              <a:t>“Book a flight from Delhi to Paris on the 5th… </a:t>
            </a:r>
            <a:r>
              <a:rPr sz="1400" b="1" i="1">
                <a:solidFill>
                  <a:srgbClr val="6D28D9"/>
                </a:solidFill>
                <a:latin typeface="Calibri"/>
              </a:rPr>
              <a:t>actually, make it Tokyo.</a:t>
            </a:r>
            <a:r>
              <a:rPr sz="1400" b="0" i="1">
                <a:solidFill>
                  <a:srgbClr val="14142B"/>
                </a:solidFill>
                <a:latin typeface="Calibri"/>
              </a:rPr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3931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3637E"/>
                </a:solidFill>
                <a:latin typeface="Calibri"/>
              </a:rPr>
              <a:t>Typical half-duplex assistant</a:t>
            </a:r>
          </a:p>
        </p:txBody>
      </p:sp>
      <p:sp>
        <p:nvSpPr>
          <p:cNvPr id="10" name="Pentagon 9"/>
          <p:cNvSpPr/>
          <p:nvPr/>
        </p:nvSpPr>
        <p:spPr>
          <a:xfrm>
            <a:off x="548640" y="3931920"/>
            <a:ext cx="1325880" cy="512064"/>
          </a:xfrm>
          <a:prstGeom prst="homePlate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3637E"/>
                </a:solidFill>
                <a:latin typeface="Calibri"/>
              </a:rPr>
              <a:t>Listen</a:t>
            </a:r>
          </a:p>
        </p:txBody>
      </p:sp>
      <p:sp>
        <p:nvSpPr>
          <p:cNvPr id="11" name="Chevron 10"/>
          <p:cNvSpPr/>
          <p:nvPr/>
        </p:nvSpPr>
        <p:spPr>
          <a:xfrm>
            <a:off x="1737360" y="3931920"/>
            <a:ext cx="1234440" cy="512064"/>
          </a:xfrm>
          <a:prstGeom prst="chevron">
            <a:avLst/>
          </a:prstGeom>
          <a:solidFill>
            <a:srgbClr val="EE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3637E"/>
                </a:solidFill>
                <a:latin typeface="Calibri"/>
              </a:rPr>
              <a:t>Think</a:t>
            </a:r>
          </a:p>
        </p:txBody>
      </p:sp>
      <p:sp>
        <p:nvSpPr>
          <p:cNvPr id="12" name="Chevron 11"/>
          <p:cNvSpPr/>
          <p:nvPr/>
        </p:nvSpPr>
        <p:spPr>
          <a:xfrm>
            <a:off x="2834640" y="3931920"/>
            <a:ext cx="1965960" cy="512064"/>
          </a:xfrm>
          <a:prstGeom prst="chevron">
            <a:avLst/>
          </a:prstGeom>
          <a:solidFill>
            <a:srgbClr val="FF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11D48"/>
                </a:solidFill>
                <a:latin typeface="Calibri"/>
              </a:rPr>
              <a:t>Search Delhi → Paris (stale)</a:t>
            </a:r>
          </a:p>
        </p:txBody>
      </p:sp>
      <p:sp>
        <p:nvSpPr>
          <p:cNvPr id="13" name="Chevron 12"/>
          <p:cNvSpPr/>
          <p:nvPr/>
        </p:nvSpPr>
        <p:spPr>
          <a:xfrm>
            <a:off x="4663440" y="3931920"/>
            <a:ext cx="1783080" cy="512064"/>
          </a:xfrm>
          <a:prstGeom prst="chevron">
            <a:avLst/>
          </a:prstGeom>
          <a:solidFill>
            <a:srgbClr val="FF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E11D48"/>
                </a:solidFill>
                <a:latin typeface="Calibri"/>
              </a:rPr>
              <a:t>Answers about Paris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prism-agent (full-duplex)</a:t>
            </a:r>
          </a:p>
        </p:txBody>
      </p:sp>
      <p:sp>
        <p:nvSpPr>
          <p:cNvPr id="15" name="Pentagon 14"/>
          <p:cNvSpPr/>
          <p:nvPr/>
        </p:nvSpPr>
        <p:spPr>
          <a:xfrm>
            <a:off x="548640" y="4864608"/>
            <a:ext cx="1691640" cy="512064"/>
          </a:xfrm>
          <a:prstGeom prst="homePlate">
            <a:avLst/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6D28D9"/>
                </a:solidFill>
                <a:latin typeface="Calibri"/>
              </a:rPr>
              <a:t>Listen + speculate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2103120" y="4864608"/>
            <a:ext cx="1417320" cy="512064"/>
          </a:xfrm>
          <a:prstGeom prst="chevron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Cancel ~2 ms</a:t>
            </a:r>
          </a:p>
        </p:txBody>
      </p:sp>
      <p:sp>
        <p:nvSpPr>
          <p:cNvPr id="17" name="Chevron 16"/>
          <p:cNvSpPr/>
          <p:nvPr/>
        </p:nvSpPr>
        <p:spPr>
          <a:xfrm>
            <a:off x="3383280" y="4864608"/>
            <a:ext cx="1508760" cy="512064"/>
          </a:xfrm>
          <a:prstGeom prst="chevron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Re-plan: Tokyo</a:t>
            </a:r>
          </a:p>
        </p:txBody>
      </p:sp>
      <p:sp>
        <p:nvSpPr>
          <p:cNvPr id="18" name="Chevron 17"/>
          <p:cNvSpPr/>
          <p:nvPr/>
        </p:nvSpPr>
        <p:spPr>
          <a:xfrm>
            <a:off x="4754880" y="4864608"/>
            <a:ext cx="1691640" cy="512064"/>
          </a:xfrm>
          <a:prstGeom prst="chevron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Right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532120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Only the corrected slot changes: origin and date survive the interruption.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1645920"/>
            <a:ext cx="4736592" cy="4526280"/>
          </a:xfrm>
          <a:prstGeom prst="roundRect">
            <a:avLst>
              <a:gd name="adj" fmla="val 3030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18105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14142B"/>
                </a:solidFill>
                <a:latin typeface="Calibri"/>
              </a:rPr>
              <a:t>How Theme 05 is scored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17627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…and where prism-agent earns each part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25603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Task completion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69880" y="25603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40%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2889503"/>
            <a:ext cx="4206240" cy="118872"/>
          </a:xfrm>
          <a:prstGeom prst="roundRect">
            <a:avLst>
              <a:gd name="adj" fmla="val 50000"/>
            </a:avLst>
          </a:prstGeom>
          <a:solidFill>
            <a:srgbClr val="E4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78040" y="2889503"/>
            <a:ext cx="4206240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78040" y="306323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Schema-driven tool calls on a real world flight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3346703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Interruption recovery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69880" y="3346703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35%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3675887"/>
            <a:ext cx="4206240" cy="118872"/>
          </a:xfrm>
          <a:prstGeom prst="roundRect">
            <a:avLst>
              <a:gd name="adj" fmla="val 50000"/>
            </a:avLst>
          </a:prstGeom>
          <a:solidFill>
            <a:srgbClr val="E4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78040" y="3675887"/>
            <a:ext cx="3680460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78040" y="384962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Generation-tagged cancellation in ~2 ms, no stale re-runs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133087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Response latency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413308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15%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4462272"/>
            <a:ext cx="4206240" cy="118872"/>
          </a:xfrm>
          <a:prstGeom prst="roundRect">
            <a:avLst>
              <a:gd name="adj" fmla="val 50000"/>
            </a:avLst>
          </a:prstGeom>
          <a:solidFill>
            <a:srgbClr val="E4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178040" y="4462272"/>
            <a:ext cx="1577340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4636007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Speculative dispatch + instant spoken acknowledgments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91947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Safety &amp; protocol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49194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10%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78040" y="5248656"/>
            <a:ext cx="4206240" cy="118872"/>
          </a:xfrm>
          <a:prstGeom prst="roundRect">
            <a:avLst>
              <a:gd name="adj" fmla="val 50000"/>
            </a:avLst>
          </a:prstGeom>
          <a:solidFill>
            <a:srgbClr val="E4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178040" y="5248656"/>
            <a:ext cx="1051560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78040" y="542239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Idempotency keys + JSON-validated actions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5788152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Plus a 0.8×–1.2× quality multiplier; multimodal scenarios weigh 1.5× on the hidden set.</a:t>
            </a:r>
          </a:p>
        </p:txBody>
      </p:sp>
    </p:spTree>
    <p:extLst>
      <p:ext uri="{BB962C8B-B14F-4D97-AF65-F5344CB8AC3E}">
        <p14:creationId xmlns:p14="http://schemas.microsoft.com/office/powerpoint/2010/main" val="2564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>
            <a:normAutofit/>
          </a:bodyPr>
          <a:lstStyle/>
          <a:p>
            <a:r>
              <a:rPr lang="en-IN" b="1" dirty="0" sz="3200">
                <a:solidFill>
                  <a:srgbClr val="704EA6"/>
                </a:solidFill>
                <a:latin typeface="+mn-lt"/>
                <a:cs typeface="Arial" pitchFamily="34" charset="-120"/>
              </a:rPr>
              <a:t>Existing Solutions &amp;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9167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Barge-in today mostly means “stop talking”. </a:t>
            </a:r>
            <a:r>
              <a:rPr sz="1500" b="0" i="0">
                <a:solidFill>
                  <a:srgbClr val="63637E"/>
                </a:solidFill>
                <a:latin typeface="Calibri"/>
              </a:rPr>
              <a:t>The work already in flight — searches, bookings, half-built state — is left for the developer to clean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48088" y="1691640"/>
            <a:ext cx="1792224" cy="3904487"/>
          </a:xfrm>
          <a:prstGeom prst="roundRect">
            <a:avLst>
              <a:gd name="adj" fmla="val 5102"/>
            </a:avLst>
          </a:prstGeom>
          <a:solidFill>
            <a:srgbClr val="F3F0FF"/>
          </a:solidFill>
          <a:ln w="1587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3637E"/>
                </a:solidFill>
                <a:latin typeface="Calibri"/>
              </a:rPr>
              <a:t>Typical out-of-the-box behaviour</a:t>
            </a:r>
          </a:p>
        </p:txBody>
      </p:sp>
      <p:pic>
        <p:nvPicPr>
          <p:cNvPr id="8" name="Picture 7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5688"/>
            <a:ext cx="164592" cy="1645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9808" y="20482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built-in</a:t>
            </a:r>
          </a:p>
        </p:txBody>
      </p:sp>
      <p:pic>
        <p:nvPicPr>
          <p:cNvPr id="10" name="Picture 9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19" y="2075688"/>
            <a:ext cx="164592" cy="1645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18488" y="204825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partial / developer's job</a:t>
            </a:r>
          </a:p>
        </p:txBody>
      </p:sp>
      <p:pic>
        <p:nvPicPr>
          <p:cNvPr id="12" name="Picture 11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2075688"/>
            <a:ext cx="164592" cy="1645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55848" y="204825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missing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2855" y="1764792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4142B"/>
                </a:solidFill>
                <a:latin typeface="Calibri"/>
              </a:rPr>
              <a:t>Classic voice assistants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Alexa · Siri · Google 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79" y="1764792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4142B"/>
                </a:solidFill>
                <a:latin typeface="Calibri"/>
              </a:rPr>
              <a:t>Realtime voice LLM APIs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GPT Realtime · Gemini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3" y="1764792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4142B"/>
                </a:solidFill>
                <a:latin typeface="Calibri"/>
              </a:rPr>
              <a:t>Agent frameworks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LangChain · LangGraph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39528" y="1764792"/>
            <a:ext cx="16093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6D28D9"/>
                </a:solidFill>
                <a:latin typeface="Calibri"/>
              </a:rPr>
              <a:t>prism-agent (ours)</a:t>
            </a:r>
          </a:p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Team CODALYST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350008"/>
            <a:ext cx="9272016" cy="4572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500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Barge-in stops speech output</a:t>
            </a:r>
          </a:p>
        </p:txBody>
      </p:sp>
      <p:pic>
        <p:nvPicPr>
          <p:cNvPr id="20" name="Picture 19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478024"/>
            <a:ext cx="201168" cy="20116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873752" y="2350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yes</a:t>
            </a:r>
          </a:p>
        </p:txBody>
      </p:sp>
      <p:pic>
        <p:nvPicPr>
          <p:cNvPr id="22" name="Picture 21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2478024"/>
            <a:ext cx="201168" cy="20116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65976" y="2350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yes</a:t>
            </a:r>
          </a:p>
        </p:txBody>
      </p:sp>
      <p:pic>
        <p:nvPicPr>
          <p:cNvPr id="24" name="Picture 23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7" y="2478024"/>
            <a:ext cx="201168" cy="20116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458199" y="2350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not voice-native</a:t>
            </a:r>
          </a:p>
        </p:txBody>
      </p:sp>
      <p:pic>
        <p:nvPicPr>
          <p:cNvPr id="26" name="Picture 25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2478024"/>
            <a:ext cx="201168" cy="20116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250424" y="2350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+ ack in ~3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28072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Cancels tool calls already in flight</a:t>
            </a:r>
          </a:p>
        </p:txBody>
      </p:sp>
      <p:pic>
        <p:nvPicPr>
          <p:cNvPr id="29" name="Picture 28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935224"/>
            <a:ext cx="201168" cy="2011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873752" y="2807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no</a:t>
            </a:r>
          </a:p>
        </p:txBody>
      </p:sp>
      <p:pic>
        <p:nvPicPr>
          <p:cNvPr id="31" name="Picture 30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2935224"/>
            <a:ext cx="201168" cy="2011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65976" y="2807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app's job</a:t>
            </a:r>
          </a:p>
        </p:txBody>
      </p:sp>
      <p:pic>
        <p:nvPicPr>
          <p:cNvPr id="33" name="Picture 32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7" y="2935224"/>
            <a:ext cx="201168" cy="20116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58199" y="2807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aborts whole run</a:t>
            </a:r>
          </a:p>
        </p:txBody>
      </p:sp>
      <p:pic>
        <p:nvPicPr>
          <p:cNvPr id="35" name="Picture 34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2935224"/>
            <a:ext cx="201168" cy="20116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250424" y="2807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~2 ms, per call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264408"/>
            <a:ext cx="9272016" cy="4572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32644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Reuses still-valid results after a correction</a:t>
            </a:r>
          </a:p>
        </p:txBody>
      </p:sp>
      <p:pic>
        <p:nvPicPr>
          <p:cNvPr id="39" name="Picture 38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3392424"/>
            <a:ext cx="201168" cy="20116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873752" y="32644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no</a:t>
            </a:r>
          </a:p>
        </p:txBody>
      </p:sp>
      <p:pic>
        <p:nvPicPr>
          <p:cNvPr id="41" name="Picture 40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392424"/>
            <a:ext cx="201168" cy="20116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665976" y="32644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no</a:t>
            </a:r>
          </a:p>
        </p:txBody>
      </p:sp>
      <p:pic>
        <p:nvPicPr>
          <p:cNvPr id="43" name="Picture 42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7" y="3392424"/>
            <a:ext cx="201168" cy="20116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458199" y="32644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no</a:t>
            </a:r>
          </a:p>
        </p:txBody>
      </p:sp>
      <p:pic>
        <p:nvPicPr>
          <p:cNvPr id="45" name="Picture 44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392424"/>
            <a:ext cx="201168" cy="20116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0250424" y="32644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salvage cache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37216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Session slots with localized corrections</a:t>
            </a:r>
          </a:p>
        </p:txBody>
      </p:sp>
      <p:pic>
        <p:nvPicPr>
          <p:cNvPr id="48" name="Picture 47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3849624"/>
            <a:ext cx="201168" cy="201168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873752" y="37216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per-skill dialogs</a:t>
            </a:r>
          </a:p>
        </p:txBody>
      </p:sp>
      <p:pic>
        <p:nvPicPr>
          <p:cNvPr id="50" name="Picture 49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849624"/>
            <a:ext cx="201168" cy="201168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665976" y="37216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chat history</a:t>
            </a:r>
          </a:p>
        </p:txBody>
      </p:sp>
      <p:pic>
        <p:nvPicPr>
          <p:cNvPr id="52" name="Picture 51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7" y="3849624"/>
            <a:ext cx="201168" cy="201168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8458199" y="37216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custom state</a:t>
            </a:r>
          </a:p>
        </p:txBody>
      </p:sp>
      <p:pic>
        <p:nvPicPr>
          <p:cNvPr id="54" name="Picture 53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3849624"/>
            <a:ext cx="201168" cy="20116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250424" y="37216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SlotState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178808"/>
            <a:ext cx="9272016" cy="4572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" y="41788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Never double-books on retries</a:t>
            </a:r>
          </a:p>
        </p:txBody>
      </p:sp>
      <p:pic>
        <p:nvPicPr>
          <p:cNvPr id="58" name="Picture 57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4306824"/>
            <a:ext cx="201168" cy="20116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4873752" y="41788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per skill</a:t>
            </a:r>
          </a:p>
        </p:txBody>
      </p:sp>
      <p:pic>
        <p:nvPicPr>
          <p:cNvPr id="60" name="Picture 59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4306824"/>
            <a:ext cx="201168" cy="201168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665976" y="41788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app's job</a:t>
            </a:r>
          </a:p>
        </p:txBody>
      </p:sp>
      <p:pic>
        <p:nvPicPr>
          <p:cNvPr id="62" name="Picture 61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7" y="4306824"/>
            <a:ext cx="201168" cy="20116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8458199" y="41788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app's job</a:t>
            </a:r>
          </a:p>
        </p:txBody>
      </p:sp>
      <p:pic>
        <p:nvPicPr>
          <p:cNvPr id="64" name="Picture 63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4306824"/>
            <a:ext cx="201168" cy="20116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250424" y="41788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idempotency keys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" y="46360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Handles tools it has never seen</a:t>
            </a:r>
          </a:p>
        </p:txBody>
      </p:sp>
      <p:pic>
        <p:nvPicPr>
          <p:cNvPr id="67" name="Picture 66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4764024"/>
            <a:ext cx="201168" cy="20116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873752" y="4636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fixed skills</a:t>
            </a:r>
          </a:p>
        </p:txBody>
      </p:sp>
      <p:pic>
        <p:nvPicPr>
          <p:cNvPr id="69" name="Picture 68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9944" y="4764024"/>
            <a:ext cx="201168" cy="201168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665976" y="4636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function calling</a:t>
            </a:r>
          </a:p>
        </p:txBody>
      </p:sp>
      <p:pic>
        <p:nvPicPr>
          <p:cNvPr id="71" name="Picture 70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7" y="4764024"/>
            <a:ext cx="201168" cy="20116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8458199" y="4636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tool schemas</a:t>
            </a:r>
          </a:p>
        </p:txBody>
      </p:sp>
      <p:pic>
        <p:nvPicPr>
          <p:cNvPr id="73" name="Picture 72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4764024"/>
            <a:ext cx="201168" cy="201168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10250424" y="46360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manifest → args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5093208"/>
            <a:ext cx="9272016" cy="457200"/>
          </a:xfrm>
          <a:prstGeom prst="rect">
            <a:avLst/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368" y="5093208"/>
            <a:ext cx="37398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4142B"/>
                </a:solidFill>
                <a:latin typeface="Calibri"/>
              </a:rPr>
              <a:t>Offline, deterministic replay</a:t>
            </a:r>
          </a:p>
        </p:txBody>
      </p:sp>
      <p:pic>
        <p:nvPicPr>
          <p:cNvPr id="77" name="Picture 76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5221224"/>
            <a:ext cx="201168" cy="201168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4873752" y="5093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cloud</a:t>
            </a:r>
          </a:p>
        </p:txBody>
      </p:sp>
      <p:pic>
        <p:nvPicPr>
          <p:cNvPr id="79" name="Picture 78" descr="x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5221224"/>
            <a:ext cx="201168" cy="20116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6665976" y="5093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cloud</a:t>
            </a:r>
          </a:p>
        </p:txBody>
      </p:sp>
      <p:pic>
        <p:nvPicPr>
          <p:cNvPr id="81" name="Picture 80" descr="partial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7" y="5221224"/>
            <a:ext cx="201168" cy="20116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8458199" y="5093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3637E"/>
                </a:solidFill>
                <a:latin typeface="Calibri"/>
              </a:rPr>
              <a:t>possible</a:t>
            </a:r>
          </a:p>
        </p:txBody>
      </p:sp>
      <p:pic>
        <p:nvPicPr>
          <p:cNvPr id="83" name="Picture 82" descr="check_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392" y="5221224"/>
            <a:ext cx="201168" cy="20116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250424" y="5093208"/>
            <a:ext cx="1335024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4142B"/>
                </a:solidFill>
                <a:latin typeface="Calibri"/>
              </a:rPr>
              <a:t>virtual clock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48640" y="5751576"/>
            <a:ext cx="11091672" cy="566928"/>
          </a:xfrm>
          <a:prstGeom prst="roundRect">
            <a:avLst>
              <a:gd name="adj" fmla="val 19354"/>
            </a:avLst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676656" y="5824728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87" name="Picture 86" descr="bulb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605" y="5925677"/>
            <a:ext cx="218724" cy="218724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1234440" y="5751576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The gap: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interruption is handled as an exception to clean up. prism-agent makes cancel-and-re-plan the normal path on every turn.</a:t>
            </a:r>
          </a:p>
        </p:txBody>
      </p:sp>
    </p:spTree>
    <p:extLst>
      <p:ext uri="{BB962C8B-B14F-4D97-AF65-F5344CB8AC3E}">
        <p14:creationId xmlns:p14="http://schemas.microsoft.com/office/powerpoint/2010/main" val="1549970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r>
              <a:rPr lang="en-IN" b="1" dirty="0" sz="3200">
                <a:solidFill>
                  <a:srgbClr val="704EA6"/>
                </a:solidFill>
                <a:latin typeface="+mn-lt"/>
              </a:rPr>
              <a:t>Our Solutions &amp; 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24128"/>
            <a:ext cx="11091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prism-agent </a:t>
            </a:r>
            <a:r>
              <a:rPr sz="1600" b="0" i="0">
                <a:solidFill>
                  <a:srgbClr val="14142B"/>
                </a:solidFill>
                <a:latin typeface="Calibri"/>
              </a:rPr>
              <a:t>speculates while you're still talking, </a:t>
            </a:r>
            <a:r>
              <a:rPr sz="1600" b="1" i="0">
                <a:solidFill>
                  <a:srgbClr val="E11D48"/>
                </a:solidFill>
                <a:latin typeface="Calibri"/>
              </a:rPr>
              <a:t>cancels</a:t>
            </a:r>
            <a:r>
              <a:rPr sz="1600" b="0" i="0">
                <a:solidFill>
                  <a:srgbClr val="14142B"/>
                </a:solidFill>
                <a:latin typeface="Calibri"/>
              </a:rPr>
              <a:t> the instant you correct yourself, and </a:t>
            </a:r>
            <a:r>
              <a:rPr sz="1600" b="1" i="0">
                <a:solidFill>
                  <a:srgbClr val="059669"/>
                </a:solidFill>
                <a:latin typeface="Calibri"/>
              </a:rPr>
              <a:t>reuses</a:t>
            </a:r>
            <a:r>
              <a:rPr sz="1600" b="0" i="0">
                <a:solidFill>
                  <a:srgbClr val="14142B"/>
                </a:solidFill>
                <a:latin typeface="Calibri"/>
              </a:rPr>
              <a:t> whatever still 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727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INPUT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28600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8" name="Picture 7" descr="ms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993391"/>
            <a:ext cx="237744" cy="2377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5840" y="1874519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Text chunks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+ end-of-turn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41448"/>
            <a:ext cx="228600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1" name="Picture 10" descr="mic_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2560320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5840" y="2441448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Audio clips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WAV → Whisper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08376"/>
            <a:ext cx="228600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4" name="Picture 13" descr="camera_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3127248"/>
            <a:ext cx="237744" cy="23774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05840" y="3008376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Video frames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PNG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575303"/>
            <a:ext cx="228600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7" name="Picture 16" descr="stop_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3694176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" y="3575303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Interruptions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barge-in signal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42231"/>
            <a:ext cx="228600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0" name="Picture 19" descr="refresh_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" y="4261103"/>
            <a:ext cx="237744" cy="2377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5840" y="4142231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Tool results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asynchronous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09160"/>
            <a:ext cx="2286000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3" name="Picture 22" descr="json_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" y="4828032"/>
            <a:ext cx="237744" cy="23774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" y="4709160"/>
            <a:ext cx="175564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Tool manifests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read-only vs mutating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80360" y="3566160"/>
            <a:ext cx="292608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218688" y="1572768"/>
            <a:ext cx="5760720" cy="3840480"/>
          </a:xfrm>
          <a:prstGeom prst="roundRect">
            <a:avLst>
              <a:gd name="adj" fmla="val 3571"/>
            </a:avLst>
          </a:prstGeom>
          <a:solidFill>
            <a:srgbClr val="F3F0FF"/>
          </a:solidFill>
          <a:ln w="12700">
            <a:solidFill>
              <a:srgbClr val="E9E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1673352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COORDINATOR  ·  LAYER 0 — CANCELLATION SPINE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401568" y="1984248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66160" y="2029968"/>
            <a:ext cx="51206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63637E"/>
                </a:solidFill>
                <a:latin typeface="Calibri"/>
              </a:rPr>
              <a:t>SlotState  { intent, slots, generation: N }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Every tool call is tagged with the generation it started in. A barge-in or slot correction calls </a:t>
            </a:r>
            <a:r>
              <a:rPr sz="1150" b="1" i="0">
                <a:solidFill>
                  <a:srgbClr val="6D28D9"/>
                </a:solidFill>
                <a:latin typeface="Calibri"/>
              </a:rPr>
              <a:t>bump_generation()</a:t>
            </a:r>
            <a:r>
              <a:rPr sz="1150" b="0" i="0">
                <a:solidFill>
                  <a:srgbClr val="63637E"/>
                </a:solidFill>
                <a:latin typeface="Calibri"/>
              </a:rPr>
              <a:t> and every call with an older tag is cancelled through its own trio CancelScope. No polling.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3017520"/>
            <a:ext cx="2651760" cy="1024128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529584" y="312724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2" name="Picture 31" descr="zap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1755" y="3219419"/>
            <a:ext cx="199704" cy="19970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005072" y="3090672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FAST PATH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Fillers · acknowledgements · clarifications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059669"/>
                </a:solidFill>
                <a:latin typeface="Calibri"/>
              </a:rPr>
              <a:t>First action in ~3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3017520"/>
            <a:ext cx="2651760" cy="1024128"/>
          </a:xfrm>
          <a:prstGeom prst="roundRect">
            <a:avLst>
              <a:gd name="adj" fmla="val 8928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272784" y="312724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6" name="Picture 35" descr="hourglass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64955" y="3219419"/>
            <a:ext cx="199704" cy="19970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748272" y="3090672"/>
            <a:ext cx="1965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SLOW PATH</a:t>
            </a:r>
          </a:p>
          <a:p>
            <a:pPr algn="l">
              <a:spcAft>
                <a:spcPts val="100"/>
              </a:spcAft>
            </a:pPr>
            <a:r>
              <a:rPr sz="1100" b="0" i="0">
                <a:solidFill>
                  <a:srgbClr val="14142B"/>
                </a:solidFill>
                <a:latin typeface="Calibri"/>
              </a:rPr>
              <a:t>Speculative + final tool calls, NLU, multimodal fusion</a:t>
            </a:r>
          </a:p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One CancelScope per 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01568" y="4160520"/>
            <a:ext cx="1280160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93008" y="4206240"/>
            <a:ext cx="1115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L1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Speculation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fires read-only calls before end-of-turn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73168" y="4160520"/>
            <a:ext cx="1280160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64608" y="4206240"/>
            <a:ext cx="1115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L2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Salvage cache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reuses cancelled-but-valid results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44768" y="4160520"/>
            <a:ext cx="1280160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36208" y="4206240"/>
            <a:ext cx="1115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L3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Belief fusion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text · audio · video; clarify on conflict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16368" y="4160520"/>
            <a:ext cx="1280160" cy="1115568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07808" y="4206240"/>
            <a:ext cx="111556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L4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Schema tools</a:t>
            </a:r>
          </a:p>
          <a:p>
            <a:pPr algn="l">
              <a:spcAft>
                <a:spcPts val="10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args for never-seen manifest tools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25128" y="3566160"/>
            <a:ext cx="301752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372600" y="1572768"/>
            <a:ext cx="2267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OUTPUT ACTIONS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372600" y="1874519"/>
            <a:ext cx="2267712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49" name="Picture 48" descr="audio_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0616" y="1993391"/>
            <a:ext cx="237744" cy="237744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9829800" y="1874519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filler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spoken ack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72600" y="2441448"/>
            <a:ext cx="2267712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52" name="Picture 51" descr="route_p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0616" y="2560320"/>
            <a:ext cx="237744" cy="237744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829800" y="2441448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tool_call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explicit call_id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372600" y="3008376"/>
            <a:ext cx="2267712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55" name="Picture 54" descr="scissors_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00616" y="3127248"/>
            <a:ext cx="237744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9829800" y="3008376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cancellation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stale call torn down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72600" y="3575303"/>
            <a:ext cx="2267712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58" name="Picture 57" descr="msg_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616" y="3694176"/>
            <a:ext cx="237744" cy="23774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829800" y="3575303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clarification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ask, don't guess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372600" y="4142231"/>
            <a:ext cx="2267712" cy="475488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61" name="Picture 60" descr="check_p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0616" y="4261103"/>
            <a:ext cx="237744" cy="237744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9829800" y="4142231"/>
            <a:ext cx="17373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4142B"/>
                </a:solidFill>
                <a:latin typeface="Calibri"/>
              </a:rPr>
              <a:t>final_response</a:t>
            </a:r>
          </a:p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+ state snapshot</a:t>
            </a:r>
          </a:p>
        </p:txBody>
      </p:sp>
      <p:pic>
        <p:nvPicPr>
          <p:cNvPr id="63" name="Picture 62" descr="shield_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90888" y="4800600"/>
            <a:ext cx="219456" cy="21945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9656064" y="4727448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Every payload JSON-validated before it is emitted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5559552"/>
            <a:ext cx="11091672" cy="713232"/>
          </a:xfrm>
          <a:prstGeom prst="roundRect">
            <a:avLst>
              <a:gd name="adj" fmla="val 15384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31520" y="5705856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67" name="Picture 66" descr="brain_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469" y="5806805"/>
            <a:ext cx="218724" cy="218724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261872" y="5577840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NLU 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Groq → Ollama → regex + world airport gazetteer</a:t>
            </a:r>
          </a:p>
        </p:txBody>
      </p:sp>
      <p:sp>
        <p:nvSpPr>
          <p:cNvPr id="69" name="Oval 68"/>
          <p:cNvSpPr/>
          <p:nvPr/>
        </p:nvSpPr>
        <p:spPr>
          <a:xfrm>
            <a:off x="4425696" y="5705856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0" name="Picture 69" descr="plane_w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26645" y="5806805"/>
            <a:ext cx="218724" cy="21872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4956048" y="5577840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Tools 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Offline world flight model (3,244 airports) + support mocks</a:t>
            </a:r>
          </a:p>
        </p:txBody>
      </p:sp>
      <p:sp>
        <p:nvSpPr>
          <p:cNvPr id="72" name="Oval 71"/>
          <p:cNvSpPr/>
          <p:nvPr/>
        </p:nvSpPr>
        <p:spPr>
          <a:xfrm>
            <a:off x="8119872" y="5705856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3" name="Picture 72" descr="monitor_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20821" y="5806805"/>
            <a:ext cx="218724" cy="218724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650224" y="5577840"/>
            <a:ext cx="30632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Web  </a:t>
            </a:r>
            <a:r>
              <a:rPr sz="1200" b="0" i="0">
                <a:solidFill>
                  <a:srgbClr val="14142B"/>
                </a:solidFill>
                <a:latin typeface="Calibri"/>
              </a:rPr>
              <a:t>Quart-Trio WebSocket bridge → live browser timeline</a:t>
            </a:r>
          </a:p>
        </p:txBody>
      </p:sp>
    </p:spTree>
    <p:extLst>
      <p:ext uri="{BB962C8B-B14F-4D97-AF65-F5344CB8AC3E}">
        <p14:creationId xmlns:p14="http://schemas.microsoft.com/office/powerpoint/2010/main" val="2579789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r>
              <a:rPr lang="en-IN" b="1" dirty="0" sz="3200">
                <a:solidFill>
                  <a:srgbClr val="704EA6"/>
                </a:solidFill>
                <a:latin typeface="+mn-lt"/>
              </a:rPr>
              <a:t>Demo &amp; 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5 / 12</a:t>
            </a:r>
          </a:p>
        </p:txBody>
      </p:sp>
      <p:pic>
        <p:nvPicPr>
          <p:cNvPr id="5" name="Picture 4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4311497" cy="4846320"/>
          </a:xfrm>
          <a:prstGeom prst="rect">
            <a:avLst/>
          </a:prstGeom>
          <a:ln w="9525">
            <a:solidFill>
              <a:srgbClr val="E2DDF3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6044183"/>
            <a:ext cx="431149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Live agent timeline during the barge-in demo</a:t>
            </a:r>
          </a:p>
        </p:txBody>
      </p:sp>
      <p:pic>
        <p:nvPicPr>
          <p:cNvPr id="7" name="Picture 6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737" y="1143000"/>
            <a:ext cx="3913555" cy="4846320"/>
          </a:xfrm>
          <a:prstGeom prst="rect">
            <a:avLst/>
          </a:prstGeom>
          <a:ln w="9525">
            <a:solidFill>
              <a:srgbClr val="E2DDF3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088737" y="6044183"/>
            <a:ext cx="39135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Round-trip results: fare strip, filters, per-leg booking</a:t>
            </a:r>
          </a:p>
        </p:txBody>
      </p:sp>
      <p:sp>
        <p:nvSpPr>
          <p:cNvPr id="9" name="Oval 8"/>
          <p:cNvSpPr/>
          <p:nvPr/>
        </p:nvSpPr>
        <p:spPr>
          <a:xfrm>
            <a:off x="9276612" y="1143000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79532" y="1124712"/>
            <a:ext cx="18607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Just say it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“Delhi to Paris on the 5th”: a speculative search starts before you finish.</a:t>
            </a:r>
          </a:p>
        </p:txBody>
      </p:sp>
      <p:sp>
        <p:nvSpPr>
          <p:cNvPr id="11" name="Oval 10"/>
          <p:cNvSpPr/>
          <p:nvPr/>
        </p:nvSpPr>
        <p:spPr>
          <a:xfrm>
            <a:off x="9276612" y="2130552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532" y="2112264"/>
            <a:ext cx="18607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Barge in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“…actually, Tokyo.” The stale call is struck through in ~2 ms.</a:t>
            </a:r>
          </a:p>
        </p:txBody>
      </p:sp>
      <p:sp>
        <p:nvSpPr>
          <p:cNvPr id="13" name="Oval 12"/>
          <p:cNvSpPr/>
          <p:nvPr/>
        </p:nvSpPr>
        <p:spPr>
          <a:xfrm>
            <a:off x="9276612" y="3118104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79532" y="3099816"/>
            <a:ext cx="18607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Re-plan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Only the changed slot updates; a real day's schedule comes back.</a:t>
            </a:r>
          </a:p>
        </p:txBody>
      </p:sp>
      <p:sp>
        <p:nvSpPr>
          <p:cNvPr id="15" name="Oval 14"/>
          <p:cNvSpPr/>
          <p:nvPr/>
        </p:nvSpPr>
        <p:spPr>
          <a:xfrm>
            <a:off x="9276612" y="4105656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532" y="4087368"/>
            <a:ext cx="18607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Pick &amp; book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Round trip, 1–9 passengers, 4 cabins, fare calendar; one idempotent booking.</a:t>
            </a:r>
          </a:p>
        </p:txBody>
      </p:sp>
      <p:sp>
        <p:nvSpPr>
          <p:cNvPr id="17" name="Oval 16"/>
          <p:cNvSpPr/>
          <p:nvPr/>
        </p:nvSpPr>
        <p:spPr>
          <a:xfrm>
            <a:off x="9276612" y="5093208"/>
            <a:ext cx="384048" cy="3840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9532" y="5074920"/>
            <a:ext cx="18607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Explore</a:t>
            </a:r>
          </a:p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3,244 airports by continent and country, with one-click search.</a:t>
            </a:r>
          </a:p>
        </p:txBody>
      </p:sp>
    </p:spTree>
    <p:extLst>
      <p:ext uri="{BB962C8B-B14F-4D97-AF65-F5344CB8AC3E}">
        <p14:creationId xmlns:p14="http://schemas.microsoft.com/office/powerpoint/2010/main" val="117824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r>
              <a:rPr lang="en-US" sz="32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 stack used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6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3584448" cy="2450592"/>
          </a:xfrm>
          <a:prstGeom prst="roundRect">
            <a:avLst>
              <a:gd name="adj" fmla="val 522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37160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" name="Picture 6" descr="cpu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1494495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1371600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Concurrency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039112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Python 3.10–3.12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Trio structured concurrency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One CancelScope per tool call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Virtual-clock replay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136392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Why trio: cancellation can never leak.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2251" y="1143000"/>
            <a:ext cx="3584448" cy="2450592"/>
          </a:xfrm>
          <a:prstGeom prst="roundRect">
            <a:avLst>
              <a:gd name="adj" fmla="val 522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30851" y="137160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3" name="Picture 12" descr="brai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747" y="1494495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170931" y="1371600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Language understanding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6571" y="2039112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Groq · llama-3.1-8b-instant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Ollama · llama3.2:3b (local)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Regex NLU + world airport gazetteer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Automatic fallback 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6571" y="3136392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Why a chain: it still works offline.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3" y="1143000"/>
            <a:ext cx="3584448" cy="2450592"/>
          </a:xfrm>
          <a:prstGeom prst="roundRect">
            <a:avLst>
              <a:gd name="adj" fmla="val 522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84463" y="137160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9" name="Picture 18" descr="audio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7359" y="1494495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924543" y="1371600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Speech &amp; vision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3" y="2039112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faster-whisper local ASR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Audio + frame observations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Cross-modal belief fusion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Clarify on disagreement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3" y="3136392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Why local: speech stays on-device.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94760"/>
            <a:ext cx="3584448" cy="2450592"/>
          </a:xfrm>
          <a:prstGeom prst="roundRect">
            <a:avLst>
              <a:gd name="adj" fmla="val 522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02336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5" name="Picture 24" descr="monito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4146255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417319" y="4023360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Web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" y="4690872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Quart-Trio + Hypercorn (ASGI)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WebSocket bridge + REST fallback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Vanilla HTML/CSS/JS, no build step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Port guard for stale servers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5788152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Why vanilla: loads instantly, no build.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2251" y="3794760"/>
            <a:ext cx="3584448" cy="2450592"/>
          </a:xfrm>
          <a:prstGeom prst="roundRect">
            <a:avLst>
              <a:gd name="adj" fmla="val 522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30851" y="402336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1" name="Picture 30" descr="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3747" y="4146255"/>
            <a:ext cx="266273" cy="266273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170931" y="4023360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World flight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6571" y="4690872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OurAirports + OpenFlights data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3,244 airports · 497 airlines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Gravity model, ~106k flights/day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zoneinfo local times (DST-aware)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6571" y="5788152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Why build it: no API keys, reproducible.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55863" y="3794760"/>
            <a:ext cx="3584448" cy="2450592"/>
          </a:xfrm>
          <a:prstGeom prst="roundRect">
            <a:avLst>
              <a:gd name="adj" fmla="val 522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84463" y="402336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7" name="Picture 36" descr="test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7359" y="4146255"/>
            <a:ext cx="266273" cy="26627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924543" y="4023360"/>
            <a:ext cx="2578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Quality &amp; tooling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0183" y="4690872"/>
            <a:ext cx="312724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pytest + pytest-trio · 159 tests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Playwright · 97 browser checks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JSON-schema protocol checks</a:t>
            </a:r>
          </a:p>
          <a:p>
            <a:pPr algn="l" marL="182880" indent="-182880">
              <a:spcAft>
                <a:spcPts val="4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Git + 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0183" y="5788152"/>
            <a:ext cx="31272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Why: every number here is tested.</a:t>
            </a:r>
          </a:p>
        </p:txBody>
      </p:sp>
    </p:spTree>
    <p:extLst>
      <p:ext uri="{BB962C8B-B14F-4D97-AF65-F5344CB8AC3E}">
        <p14:creationId xmlns:p14="http://schemas.microsoft.com/office/powerpoint/2010/main" val="3724828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r>
              <a:rPr lang="en-US" sz="32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</a:t>
            </a:r>
            <a:endParaRPr lang="en-IN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7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5468112" cy="2029968"/>
          </a:xfrm>
          <a:prstGeom prst="roundRect">
            <a:avLst>
              <a:gd name="adj" fmla="val 6306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344168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" name="Picture 6" descr="car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1467063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17319" y="1298448"/>
            <a:ext cx="44165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In-car &amp; hands-free</a:t>
            </a:r>
          </a:p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3637E"/>
                </a:solidFill>
                <a:latin typeface="Calibri"/>
              </a:rPr>
              <a:t>Destination changes while the route is being computed.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1956816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400" b="0" i="0">
                <a:solidFill>
                  <a:srgbClr val="14142B"/>
                </a:solidFill>
                <a:latin typeface="Calibri"/>
              </a:rPr>
              <a:t>The stale route or flight search is cancelled in ~2 ms and the new one dispatched; the driver never hears an answer for the old destination.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19" y="2688336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Layer 0 · cancellation spine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115568"/>
            <a:ext cx="5468112" cy="2029968"/>
          </a:xfrm>
          <a:prstGeom prst="roundRect">
            <a:avLst>
              <a:gd name="adj" fmla="val 6306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0" y="1344168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3" name="Picture 12" descr="headphones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695" y="1467063"/>
            <a:ext cx="266273" cy="2662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1298448"/>
            <a:ext cx="44165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Customer-support bots</a:t>
            </a:r>
          </a:p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3637E"/>
                </a:solidFill>
                <a:latin typeface="Calibri"/>
              </a:rPr>
              <a:t>Customer changes dates or passengers mid-booking.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956816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400" b="0" i="0">
                <a:solidFill>
                  <a:srgbClr val="14142B"/>
                </a:solidFill>
                <a:latin typeface="Calibri"/>
              </a:rPr>
              <a:t>Slots update in place; idempotency keys guarantee exactly one booking even when a call is retried.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688336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Layer 0 · idempotency keys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00984"/>
            <a:ext cx="5468112" cy="2029968"/>
          </a:xfrm>
          <a:prstGeom prst="roundRect">
            <a:avLst>
              <a:gd name="adj" fmla="val 6306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529584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9" name="Picture 18" descr="wrench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3652479"/>
            <a:ext cx="266273" cy="26627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17319" y="3483864"/>
            <a:ext cx="44165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Field &amp; device troubleshooting</a:t>
            </a:r>
          </a:p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3637E"/>
                </a:solidFill>
                <a:latin typeface="Calibri"/>
              </a:rPr>
              <a:t>“My Galaxy screen is flickering” + a camera frame.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19" y="4142232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400" b="0" i="0">
                <a:solidFill>
                  <a:srgbClr val="14142B"/>
                </a:solidFill>
                <a:latin typeface="Calibri"/>
              </a:rPr>
              <a:t>Grounds the query in manuals and frames, and asks a clarifying question instead of guessing (live Support page).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19" y="487375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Layer 3 · belief fusion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300984"/>
            <a:ext cx="5468112" cy="2029968"/>
          </a:xfrm>
          <a:prstGeom prst="roundRect">
            <a:avLst>
              <a:gd name="adj" fmla="val 6306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00800" y="3529584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5" name="Picture 24" descr="acces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695" y="3652479"/>
            <a:ext cx="266273" cy="2662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40880" y="3483864"/>
            <a:ext cx="441655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Accessibility</a:t>
            </a:r>
          </a:p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3637E"/>
                </a:solidFill>
                <a:latin typeface="Calibri"/>
              </a:rPr>
              <a:t>Hesitations and self-repairs: “uh, Delhi… no, Mumbai.”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42232"/>
            <a:ext cx="437083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400" b="0" i="0">
                <a:solidFill>
                  <a:srgbClr val="14142B"/>
                </a:solidFill>
                <a:latin typeface="Calibri"/>
              </a:rPr>
              <a:t>Self-repairs are normal input, not errors: only the corrected slot changes and still-valid work is reused.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873752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Layers 1–2 · speculation + salvage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486400"/>
            <a:ext cx="2656332" cy="786384"/>
          </a:xfrm>
          <a:prstGeom prst="roundRect">
            <a:avLst>
              <a:gd name="adj" fmla="val 13953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86400"/>
            <a:ext cx="1188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~2 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486400"/>
            <a:ext cx="11932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42B"/>
                </a:solidFill>
                <a:latin typeface="Calibri"/>
              </a:rPr>
              <a:t>to cancel a stale call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60420" y="5486400"/>
            <a:ext cx="2656332" cy="786384"/>
          </a:xfrm>
          <a:prstGeom prst="roundRect">
            <a:avLst>
              <a:gd name="adj" fmla="val 13953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3300" y="5486400"/>
            <a:ext cx="1188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~3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32020" y="5486400"/>
            <a:ext cx="11932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42B"/>
                </a:solidFill>
                <a:latin typeface="Calibri"/>
              </a:rPr>
              <a:t>to acknowledge a barge-in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2200" y="5486400"/>
            <a:ext cx="2656332" cy="786384"/>
          </a:xfrm>
          <a:prstGeom prst="roundRect">
            <a:avLst>
              <a:gd name="adj" fmla="val 13953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5486400"/>
            <a:ext cx="1188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800" y="5486400"/>
            <a:ext cx="11932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42B"/>
                </a:solidFill>
                <a:latin typeface="Calibri"/>
              </a:rPr>
              <a:t>duplicate bookings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83980" y="5486400"/>
            <a:ext cx="2656332" cy="786384"/>
          </a:xfrm>
          <a:prstGeom prst="roundRect">
            <a:avLst>
              <a:gd name="adj" fmla="val 13953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66860" y="5486400"/>
            <a:ext cx="118872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55580" y="5486400"/>
            <a:ext cx="1193292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4142B"/>
                </a:solidFill>
                <a:latin typeface="Calibri"/>
              </a:rPr>
              <a:t>offline-capable path</a:t>
            </a:r>
          </a:p>
        </p:txBody>
      </p:sp>
    </p:spTree>
    <p:extLst>
      <p:ext uri="{BB962C8B-B14F-4D97-AF65-F5344CB8AC3E}">
        <p14:creationId xmlns:p14="http://schemas.microsoft.com/office/powerpoint/2010/main" val="366811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pPr>
              <a:spcAft>
                <a:spcPts val="500"/>
              </a:spcAft>
              <a:buSzPct val="100000"/>
            </a:pPr>
            <a:r>
              <a:rPr lang="en-US" sz="32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highlights, results and limitations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8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3703320" cy="5120640"/>
          </a:xfrm>
          <a:prstGeom prst="roundRect">
            <a:avLst>
              <a:gd name="adj" fmla="val 3456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129844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" name="Picture 6" descr="sparkle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1408176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25880" y="129844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Innovation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38528"/>
            <a:ext cx="3291839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Interrupt-first spine.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Every call carries a generation; one bump cancels all stale calls.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Speculative dispatch.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Read-only calls fire before end-of-turn once slots are complete enough.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Salvage cache.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A cancelled call whose slots didn't change is reused, not re-run.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Belief fusion.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Text, audio and video observations reconciled; clarify only on real conflict.</a:t>
            </a:r>
          </a:p>
          <a:p>
            <a:pPr algn="l">
              <a:lnSpc>
                <a:spcPct val="103000"/>
              </a:lnSpc>
              <a:spcAft>
                <a:spcPts val="12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Schema-driven tools.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Arguments for never-seen tools built from the manifest's JSON 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15568"/>
            <a:ext cx="3703320" cy="5120640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129844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2" name="Picture 11" descr="gaug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408176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166359" y="129844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1920240"/>
            <a:ext cx="1600200" cy="1115568"/>
          </a:xfrm>
          <a:prstGeom prst="roundRect">
            <a:avLst>
              <a:gd name="adj" fmla="val 8196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0116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28D9"/>
                </a:solidFill>
                <a:latin typeface="Calibri"/>
              </a:rPr>
              <a:t>1.9 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4688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median interrupt → cancel (p90 2.6 ms)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20240"/>
            <a:ext cx="1600200" cy="1115568"/>
          </a:xfrm>
          <a:prstGeom prst="roundRect">
            <a:avLst>
              <a:gd name="adj" fmla="val 8196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01168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28D9"/>
                </a:solidFill>
                <a:latin typeface="Calibri"/>
              </a:rPr>
              <a:t>3.1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6888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interrupt → spoken acknowledgment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3145536"/>
            <a:ext cx="1600200" cy="1115568"/>
          </a:xfrm>
          <a:prstGeom prst="roundRect">
            <a:avLst>
              <a:gd name="adj" fmla="val 8196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23697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28D9"/>
                </a:solidFill>
                <a:latin typeface="Calibri"/>
              </a:rPr>
              <a:t>2.6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694176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text chunk → first action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145536"/>
            <a:ext cx="1600200" cy="1115568"/>
          </a:xfrm>
          <a:prstGeom prst="roundRect">
            <a:avLst>
              <a:gd name="adj" fmla="val 8196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236976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28D9"/>
                </a:solidFill>
                <a:latin typeface="Calibri"/>
              </a:rPr>
              <a:t>159/159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3694176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automated tests passing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370831"/>
            <a:ext cx="1600200" cy="1115568"/>
          </a:xfrm>
          <a:prstGeom prst="roundRect">
            <a:avLst>
              <a:gd name="adj" fmla="val 8196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4462271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28D9"/>
                </a:solidFill>
                <a:latin typeface="Calibri"/>
              </a:rPr>
              <a:t>97/97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919471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browser end-to-end checks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370831"/>
            <a:ext cx="1600200" cy="1115568"/>
          </a:xfrm>
          <a:prstGeom prst="roundRect">
            <a:avLst>
              <a:gd name="adj" fmla="val 8196"/>
            </a:avLst>
          </a:prstGeom>
          <a:solidFill>
            <a:srgbClr val="F7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4462271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6D28D9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4919471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duplicate state-changing calls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669279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3637E"/>
                </a:solidFill>
                <a:latin typeface="Calibri"/>
              </a:rPr>
              <a:t>25 replayed barge-in runs, regex NLU. With an LLM NLU, network latency is hidden behind speculation and fillers.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1115568"/>
            <a:ext cx="3410712" cy="5120640"/>
          </a:xfrm>
          <a:prstGeom prst="roundRect">
            <a:avLst>
              <a:gd name="adj" fmla="val 3753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30768" y="1298448"/>
            <a:ext cx="457200" cy="457200"/>
          </a:xfrm>
          <a:prstGeom prst="ellipse">
            <a:avLst/>
          </a:prstGeom>
          <a:solidFill>
            <a:srgbClr val="636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5" name="Picture 34" descr="ale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1408176"/>
            <a:ext cx="237744" cy="23774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006840" y="12984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Limitations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1938528"/>
            <a:ext cx="2999232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03000"/>
              </a:lnSpc>
              <a:spcAft>
                <a:spcPts val="110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14142B"/>
                </a:solidFill>
                <a:latin typeface="Calibri"/>
              </a:rPr>
              <a:t>Video frames assume pre-grounded fields; no live vision model yet.</a:t>
            </a:r>
          </a:p>
          <a:p>
            <a:pPr algn="l" marL="182880" indent="-182880">
              <a:lnSpc>
                <a:spcPct val="103000"/>
              </a:lnSpc>
              <a:spcAft>
                <a:spcPts val="110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14142B"/>
                </a:solidFill>
                <a:latin typeface="Calibri"/>
              </a:rPr>
              <a:t>Speculation confidence is a slot-completeness heuristic, not a calibrated model.</a:t>
            </a:r>
          </a:p>
          <a:p>
            <a:pPr algn="l" marL="182880" indent="-182880">
              <a:lnSpc>
                <a:spcPct val="103000"/>
              </a:lnSpc>
              <a:spcAft>
                <a:spcPts val="110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14142B"/>
                </a:solidFill>
                <a:latin typeface="Calibri"/>
              </a:rPr>
              <a:t>Flights are modeled on a 2014 route network (updated for mergers and new airports), not live availability.</a:t>
            </a:r>
          </a:p>
          <a:p>
            <a:pPr algn="l" marL="182880" indent="-182880">
              <a:lnSpc>
                <a:spcPct val="103000"/>
              </a:lnSpc>
              <a:spcAft>
                <a:spcPts val="110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14142B"/>
                </a:solidFill>
                <a:latin typeface="Calibri"/>
              </a:rPr>
              <a:t>The browser demo is typed text; mic → Whisper streaming isn't in the UI yet.</a:t>
            </a:r>
          </a:p>
          <a:p>
            <a:pPr algn="l" marL="182880" indent="-182880">
              <a:lnSpc>
                <a:spcPct val="103000"/>
              </a:lnSpc>
              <a:spcAft>
                <a:spcPts val="1100"/>
              </a:spcAft>
              <a:buClr>
                <a:srgbClr val="63637E"/>
              </a:buClr>
              <a:buSzPct val="100000"/>
              <a:buFont typeface="Arial"/>
              <a:buChar char="•"/>
            </a:pPr>
            <a:r>
              <a:rPr sz="1350" b="0" i="0">
                <a:solidFill>
                  <a:srgbClr val="14142B"/>
                </a:solidFill>
                <a:latin typeface="Calibri"/>
              </a:rPr>
              <a:t>Scored on our own replay harness until the official evaluation kit is released.</a:t>
            </a:r>
          </a:p>
        </p:txBody>
      </p:sp>
    </p:spTree>
    <p:extLst>
      <p:ext uri="{BB962C8B-B14F-4D97-AF65-F5344CB8AC3E}">
        <p14:creationId xmlns:p14="http://schemas.microsoft.com/office/powerpoint/2010/main" val="1993237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pPr>
              <a:spcAft>
                <a:spcPts val="500"/>
              </a:spcAft>
              <a:buSzPct val="100000"/>
            </a:pPr>
            <a:r>
              <a:rPr lang="en-US" sz="32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9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321052" y="1581912"/>
            <a:ext cx="7546848" cy="54864"/>
          </a:xfrm>
          <a:prstGeom prst="rect">
            <a:avLst/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38172" y="1426464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3544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NEXT 2 WEEKS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3544824" cy="3154680"/>
          </a:xfrm>
          <a:prstGeom prst="roundRect">
            <a:avLst>
              <a:gd name="adj" fmla="val 405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450592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0" name="Picture 9" descr="rocket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2573487"/>
            <a:ext cx="266273" cy="266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19" y="2450592"/>
            <a:ext cx="25389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Evaluation-ready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154680"/>
            <a:ext cx="308762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Run the 9 public + hidden-style scenarios on the official kit</a:t>
            </a:r>
          </a:p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Tune speculation thresholds per scenario type</a:t>
            </a:r>
          </a:p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Latency and cancellation dashboards from traces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919472"/>
            <a:ext cx="3087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Outcome: </a:t>
            </a:r>
            <a:r>
              <a:rPr sz="1300" b="0" i="0">
                <a:solidFill>
                  <a:srgbClr val="6D28D9"/>
                </a:solidFill>
                <a:latin typeface="Calibri"/>
              </a:rPr>
              <a:t>a scored report on the official kit</a:t>
            </a:r>
          </a:p>
        </p:txBody>
      </p:sp>
      <p:sp>
        <p:nvSpPr>
          <p:cNvPr id="14" name="Oval 13"/>
          <p:cNvSpPr/>
          <p:nvPr/>
        </p:nvSpPr>
        <p:spPr>
          <a:xfrm>
            <a:off x="5911596" y="1426464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2064" y="1874519"/>
            <a:ext cx="3544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1–2 MONTHS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2064" y="2240280"/>
            <a:ext cx="3544824" cy="3154680"/>
          </a:xfrm>
          <a:prstGeom prst="roundRect">
            <a:avLst>
              <a:gd name="adj" fmla="val 405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50664" y="2450592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8" name="Picture 17" descr="ey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59" y="2573487"/>
            <a:ext cx="266273" cy="2662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190744" y="2450592"/>
            <a:ext cx="25389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Truly multimodal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6384" y="3154680"/>
            <a:ext cx="308762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Streaming mic → faster-whisper in the browser</a:t>
            </a:r>
          </a:p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Vision-model frame grounding feeding belief fusion</a:t>
            </a:r>
          </a:p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Spoken replies that duck instantly on barge-in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6384" y="4919472"/>
            <a:ext cx="3087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Outcome: </a:t>
            </a:r>
            <a:r>
              <a:rPr sz="1300" b="0" i="0">
                <a:solidFill>
                  <a:srgbClr val="6D28D9"/>
                </a:solidFill>
                <a:latin typeface="Calibri"/>
              </a:rPr>
              <a:t>voice and camera, end to end</a:t>
            </a:r>
          </a:p>
        </p:txBody>
      </p:sp>
      <p:sp>
        <p:nvSpPr>
          <p:cNvPr id="22" name="Oval 21"/>
          <p:cNvSpPr/>
          <p:nvPr/>
        </p:nvSpPr>
        <p:spPr>
          <a:xfrm>
            <a:off x="9685020" y="1426464"/>
            <a:ext cx="365760" cy="3657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5488" y="1874519"/>
            <a:ext cx="35448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D28D9"/>
                </a:solidFill>
                <a:latin typeface="Calibri"/>
              </a:rPr>
              <a:t>3–6 MONTHS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5488" y="2240280"/>
            <a:ext cx="3544824" cy="3154680"/>
          </a:xfrm>
          <a:prstGeom prst="roundRect">
            <a:avLst>
              <a:gd name="adj" fmla="val 405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24088" y="2450592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6" name="Picture 25" descr="cpu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983" y="2573487"/>
            <a:ext cx="266273" cy="26627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964168" y="2450592"/>
            <a:ext cx="253898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4142B"/>
                </a:solidFill>
                <a:latin typeface="Calibri"/>
              </a:rPr>
              <a:t>On-device &amp; in-product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9808" y="3154680"/>
            <a:ext cx="3087624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Small on-device NLU for privacy and offline use</a:t>
            </a:r>
          </a:p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Calibrated confidence model for speculation</a:t>
            </a:r>
          </a:p>
          <a:p>
            <a:pPr algn="l" marL="182880" indent="-182880">
              <a:spcAft>
                <a:spcPts val="800"/>
              </a:spcAft>
              <a:buClr>
                <a:srgbClr val="6D28D9"/>
              </a:buClr>
              <a:buSzPct val="100000"/>
              <a:buFont typeface="Arial"/>
              <a:buChar char="•"/>
            </a:pPr>
            <a:r>
              <a:rPr sz="1500" b="0" i="0">
                <a:solidFill>
                  <a:srgbClr val="14142B"/>
                </a:solidFill>
                <a:latin typeface="Calibri"/>
              </a:rPr>
              <a:t>New domains via manifests: smart home, in-car,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9808" y="4919472"/>
            <a:ext cx="3087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D28D9"/>
                </a:solidFill>
                <a:latin typeface="Calibri"/>
              </a:rPr>
              <a:t>Outcome: </a:t>
            </a:r>
            <a:r>
              <a:rPr sz="1300" b="0" i="0">
                <a:solidFill>
                  <a:srgbClr val="6D28D9"/>
                </a:solidFill>
                <a:latin typeface="Calibri"/>
              </a:rPr>
              <a:t>a private, offline-first assistant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77840"/>
            <a:ext cx="11091672" cy="658368"/>
          </a:xfrm>
          <a:prstGeom prst="roundRect">
            <a:avLst>
              <a:gd name="adj" fmla="val 19444"/>
            </a:avLst>
          </a:prstGeom>
          <a:solidFill>
            <a:srgbClr val="E9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3232" y="5696712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2" name="Picture 31" descr="sparkles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181" y="5797661"/>
            <a:ext cx="218724" cy="21872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80160" y="5577840"/>
            <a:ext cx="1024128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Goal: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an assistant you can interrupt like a person — on phones, cars and TVs — that never acts on what you un-said.</a:t>
            </a:r>
          </a:p>
        </p:txBody>
      </p:sp>
    </p:spTree>
    <p:extLst>
      <p:ext uri="{BB962C8B-B14F-4D97-AF65-F5344CB8AC3E}">
        <p14:creationId xmlns:p14="http://schemas.microsoft.com/office/powerpoint/2010/main" val="3985914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53DB3-FB86-4452-A4FB-E7F4BEA6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pPr>
              <a:spcAft>
                <a:spcPts val="500"/>
              </a:spcAft>
              <a:buSzPct val="100000"/>
            </a:pPr>
            <a:r>
              <a:rPr lang="en-US" sz="3200" b="1" dirty="0">
                <a:solidFill>
                  <a:srgbClr val="704E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Brownie points (differentiation)</a:t>
            </a:r>
            <a:endParaRPr lang="en-US" sz="4400" b="1" dirty="0">
              <a:solidFill>
                <a:srgbClr val="704EA6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15568"/>
            <a:ext cx="3310128" cy="1572768"/>
          </a:xfrm>
          <a:prstGeom prst="roundRect">
            <a:avLst>
              <a:gd name="adj" fmla="val 8139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1673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" name="Picture 6" descr="scissor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26464"/>
            <a:ext cx="237744" cy="237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98448" y="128016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Interrupt-first, not interrupt-tolerant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92807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63637E"/>
                </a:solidFill>
                <a:latin typeface="Calibri"/>
              </a:rPr>
              <a:t>Cancellation is the normal path on every turn, built into one data structure.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05072" y="1115568"/>
            <a:ext cx="3310128" cy="1572768"/>
          </a:xfrm>
          <a:prstGeom prst="roundRect">
            <a:avLst>
              <a:gd name="adj" fmla="val 8139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87952" y="131673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2" name="Picture 11" descr="recyc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26464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54880" y="128016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Zero wasted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892807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63637E"/>
                </a:solidFill>
                <a:latin typeface="Calibri"/>
              </a:rPr>
              <a:t>Results a correction didn't invalidate are reused from the salvage cache.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07208"/>
            <a:ext cx="3310128" cy="1572768"/>
          </a:xfrm>
          <a:prstGeom prst="roundRect">
            <a:avLst>
              <a:gd name="adj" fmla="val 8139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00837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7" name="Picture 16" descr="puzzl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118104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297180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Unseen tools, zero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584448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63637E"/>
                </a:solidFill>
                <a:latin typeface="Calibri"/>
              </a:rPr>
              <a:t>Arguments for new manifest tools come straight from their JSON schema.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5072" y="2807208"/>
            <a:ext cx="3310128" cy="1572768"/>
          </a:xfrm>
          <a:prstGeom prst="roundRect">
            <a:avLst>
              <a:gd name="adj" fmla="val 8139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87952" y="300837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2" name="Picture 21" descr="globe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118104"/>
            <a:ext cx="237744" cy="23774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754880" y="297180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A world flight model we built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584448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63637E"/>
                </a:solidFill>
                <a:latin typeface="Calibri"/>
              </a:rPr>
              <a:t>Real airports and routes, day-by-day schedules and fares; no airline API, fully offline.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98848"/>
            <a:ext cx="3310128" cy="1572768"/>
          </a:xfrm>
          <a:prstGeom prst="roundRect">
            <a:avLst>
              <a:gd name="adj" fmla="val 8139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520" y="470001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7" name="Picture 26" descr="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809744"/>
            <a:ext cx="237744" cy="23774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298448" y="466344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Degrades gracefully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5276088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63637E"/>
                </a:solidFill>
                <a:latin typeface="Calibri"/>
              </a:rPr>
              <a:t>Groq → Ollama → regex; WebSocket → REST; stale servers auto-replaced.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5072" y="4498848"/>
            <a:ext cx="3310128" cy="1572768"/>
          </a:xfrm>
          <a:prstGeom prst="roundRect">
            <a:avLst>
              <a:gd name="adj" fmla="val 8139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87952" y="4700016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32" name="Picture 31" descr="flas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809744"/>
            <a:ext cx="237744" cy="23774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754880" y="4663440"/>
            <a:ext cx="24414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Engineering rigor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276088"/>
            <a:ext cx="294436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350" b="0" i="0">
                <a:solidFill>
                  <a:srgbClr val="63637E"/>
                </a:solidFill>
                <a:latin typeface="Calibri"/>
              </a:rPr>
              <a:t>159 tests, 97 browser checks and a deterministic replay trace for every run.</a:t>
            </a:r>
          </a:p>
        </p:txBody>
      </p:sp>
      <p:pic>
        <p:nvPicPr>
          <p:cNvPr id="35" name="Picture 34" descr="airports_cro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1115568"/>
            <a:ext cx="4096512" cy="1950720"/>
          </a:xfrm>
          <a:prstGeom prst="rect">
            <a:avLst/>
          </a:prstGeom>
          <a:ln w="9525">
            <a:solidFill>
              <a:srgbClr val="E2DDF3"/>
            </a:solidFill>
          </a:ln>
        </p:spPr>
      </p:pic>
      <p:sp>
        <p:nvSpPr>
          <p:cNvPr id="36" name="TextBox 35"/>
          <p:cNvSpPr txBox="1"/>
          <p:nvPr/>
        </p:nvSpPr>
        <p:spPr>
          <a:xfrm>
            <a:off x="7543800" y="3112008"/>
            <a:ext cx="40965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Airport explorer: every airport, its routes and top destinations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43800" y="3477768"/>
            <a:ext cx="4096512" cy="2767583"/>
          </a:xfrm>
          <a:prstGeom prst="roundRect">
            <a:avLst>
              <a:gd name="adj" fmla="val 4625"/>
            </a:avLst>
          </a:prstGeom>
          <a:solidFill>
            <a:srgbClr val="F3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26679" y="3614928"/>
            <a:ext cx="1865376" cy="1246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3,244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airports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2055" y="3614928"/>
            <a:ext cx="1865376" cy="1246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233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countries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861560"/>
            <a:ext cx="1865376" cy="1246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28,178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92055" y="4861560"/>
            <a:ext cx="1865376" cy="1246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6D28D9"/>
                </a:solidFill>
                <a:latin typeface="Calibri"/>
              </a:rPr>
              <a:t>497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airlines</a:t>
            </a:r>
          </a:p>
        </p:txBody>
      </p:sp>
    </p:spTree>
    <p:extLst>
      <p:ext uri="{BB962C8B-B14F-4D97-AF65-F5344CB8AC3E}">
        <p14:creationId xmlns:p14="http://schemas.microsoft.com/office/powerpoint/2010/main" val="2095517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E28A-8ABF-4E15-B9E1-B0F49C0EE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274320"/>
            <a:ext cx="11091672" cy="731520"/>
          </a:xfrm>
        </p:spPr>
        <p:txBody>
          <a:bodyPr anchor="ctr" lIns="0" rIns="0" tIns="0" bIns="0"/>
          <a:lstStyle/>
          <a:p>
            <a:r>
              <a:rPr lang="en-IN" b="1" dirty="0" sz="3200">
                <a:solidFill>
                  <a:srgbClr val="704EA6"/>
                </a:solidFill>
                <a:latin typeface="+mn-lt"/>
              </a:rPr>
              <a:t>Checklist- Updated on Public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D28D9"/>
                </a:solidFill>
                <a:latin typeface="Calibri"/>
              </a:rPr>
              <a:t>Team CODALYST · SRMIST</a:t>
            </a:r>
            <a:r>
              <a:rPr sz="1000" b="0" i="0">
                <a:solidFill>
                  <a:srgbClr val="63637E"/>
                </a:solidFill>
                <a:latin typeface="Calibri"/>
              </a:rPr>
              <a:t>   |   Samsung PRISM Generative AI Hackathon · Theme 05 — Interruptible Real-Time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5912" y="644652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63637E"/>
                </a:solidFill>
                <a:latin typeface="Calibri"/>
              </a:rPr>
              <a:t>11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11091672" cy="969264"/>
          </a:xfrm>
          <a:prstGeom prst="roundRect">
            <a:avLst>
              <a:gd name="adj" fmla="val 1320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41732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7" name="Picture 6" descr="github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135" y="1540215"/>
            <a:ext cx="266273" cy="2662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08760" y="1280160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63637E"/>
                </a:solidFill>
                <a:latin typeface="Calibri"/>
              </a:rPr>
              <a:t>Working prototype code: public GitHub repo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D28D9"/>
                </a:solidFill>
                <a:latin typeface="Calibri"/>
                <a:hlinkClick r:id="rId3"/>
              </a:rPr>
              <a:t>github.com/armanpanigrahi59/SamsungPrism_GenAI_Hackathon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04120" y="1444752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D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59669"/>
                </a:solidFill>
                <a:latin typeface="Calibri"/>
              </a:rPr>
              <a:t>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04288"/>
            <a:ext cx="11091672" cy="969264"/>
          </a:xfrm>
          <a:prstGeom prst="roundRect">
            <a:avLst>
              <a:gd name="adj" fmla="val 1320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532888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2" name="Picture 11" descr="boo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35" y="2655783"/>
            <a:ext cx="266273" cy="266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08760" y="2395728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63637E"/>
                </a:solidFill>
                <a:latin typeface="Calibri"/>
              </a:rPr>
              <a:t>README with reproducible setup instructions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63637E"/>
                </a:solidFill>
                <a:latin typeface="Courier New"/>
              </a:rPr>
              <a:t>pip install -e ".[dev,web]"  →  python server/app.py  →  python -m pytest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2560320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D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59669"/>
                </a:solidFill>
                <a:latin typeface="Calibri"/>
              </a:rPr>
              <a:t>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19856"/>
            <a:ext cx="11091672" cy="969264"/>
          </a:xfrm>
          <a:prstGeom prst="roundRect">
            <a:avLst>
              <a:gd name="adj" fmla="val 1320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7240" y="3648456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17" name="Picture 16" descr="video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35" y="3771351"/>
            <a:ext cx="266273" cy="26627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508760" y="3511296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63637E"/>
                </a:solidFill>
                <a:latin typeface="Calibri"/>
              </a:rPr>
              <a:t>Demo video (max 5 minutes, YouTube or Drive link)</a:t>
            </a:r>
          </a:p>
          <a:p>
            <a:pPr algn="l">
              <a:spcAft>
                <a:spcPts val="300"/>
              </a:spcAft>
            </a:pPr>
            <a:r>
              <a:rPr sz="1300" b="0" i="1">
                <a:solidFill>
                  <a:srgbClr val="63637E"/>
                </a:solidFill>
                <a:latin typeface="Calibri"/>
              </a:rPr>
              <a:t>Add the link here before submitting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104120" y="3675888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45309"/>
                </a:solidFill>
                <a:latin typeface="Calibri"/>
              </a:rPr>
              <a:t>TO ADD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535424"/>
            <a:ext cx="11091672" cy="969264"/>
          </a:xfrm>
          <a:prstGeom prst="roundRect">
            <a:avLst>
              <a:gd name="adj" fmla="val 13207"/>
            </a:avLst>
          </a:prstGeom>
          <a:solidFill>
            <a:srgbClr val="F7F7FB"/>
          </a:solidFill>
          <a:ln w="12700">
            <a:solidFill>
              <a:srgbClr val="E2D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4764024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</a:p>
        </p:txBody>
      </p:sp>
      <p:pic>
        <p:nvPicPr>
          <p:cNvPr id="22" name="Picture 21" descr="pres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135" y="4886919"/>
            <a:ext cx="266273" cy="2662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508760" y="4626864"/>
            <a:ext cx="84124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 i="0">
                <a:solidFill>
                  <a:srgbClr val="63637E"/>
                </a:solidFill>
                <a:latin typeface="Calibri"/>
              </a:rPr>
              <a:t>Presentation file (PPT or PDF)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SRMIST_CODALYST_Submission.pptx (this deck)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4791456"/>
            <a:ext cx="1325880" cy="457200"/>
          </a:xfrm>
          <a:prstGeom prst="roundRect">
            <a:avLst>
              <a:gd name="adj" fmla="val 50000"/>
            </a:avLst>
          </a:prstGeom>
          <a:solidFill>
            <a:srgbClr val="DD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square"/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59669"/>
                </a:solidFill>
                <a:latin typeface="Calibri"/>
              </a:rPr>
              <a:t>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Try it: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clone the repo  →  pip install -e ".[dev,web]"  →  python server/app.py  →  open http://127.0.0.1:8000</a:t>
            </a:r>
          </a:p>
        </p:txBody>
      </p:sp>
    </p:spTree>
    <p:extLst>
      <p:ext uri="{BB962C8B-B14F-4D97-AF65-F5344CB8AC3E}">
        <p14:creationId xmlns:p14="http://schemas.microsoft.com/office/powerpoint/2010/main" val="180699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41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8" name="Text 25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by the Language AI Team and the PRISM Team, Samsung R&amp;D Institute India</a:t>
            </a:r>
            <a:endParaRPr lang="en-US" sz="1100" dirty="0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168" y="960120"/>
            <a:ext cx="4206240" cy="42062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51560" y="4526280"/>
            <a:ext cx="5760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6D28D9"/>
                </a:solidFill>
                <a:latin typeface="Calibri"/>
              </a:rPr>
              <a:t>Team CODALYST · SRMIST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4956048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14142B"/>
                </a:solidFill>
                <a:latin typeface="Calibri"/>
              </a:rPr>
              <a:t>Arman Panigrahi  ·  Vanshika Singh  ·  Kushagra Srivastava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285232"/>
            <a:ext cx="6035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D28D9"/>
                </a:solidFill>
                <a:latin typeface="Calibri"/>
                <a:hlinkClick r:id="rId4"/>
              </a:rPr>
              <a:t>github.com/armanpanigrahi59/SamsungPrism_GenAI_Hackathon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